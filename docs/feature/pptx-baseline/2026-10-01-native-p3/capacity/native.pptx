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04800"/>
            <a:ext cx="609600" cy="38100"/>
          </a:xfrm>
          <a:prstGeom prst="rect">
            <a:avLst/>
          </a:prstGeom>
          <a:solidFill>
            <a:srgbClr val="78BE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F8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双栏容量 / </a:t>
            </a:r>
            <a:r>
              <a:rPr lang="en-US" alt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zh-CN" sz="3600" dirty="0"/>
          </a:p>
        </p:txBody>
      </p:sp>
      <p:sp>
        <p:nvSpPr>
          <p:cNvPr id="4" name="Shape 2"/>
          <p:cNvSpPr/>
          <p:nvPr/>
        </p:nvSpPr>
        <p:spPr>
          <a:xfrm>
            <a:off x="6083300" y="2057400"/>
            <a:ext cx="25400" cy="4191000"/>
          </a:xfrm>
          <a:prstGeom prst="rect">
            <a:avLst/>
          </a:prstGeom>
          <a:solidFill>
            <a:srgbClr val="78BE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2057400"/>
            <a:ext cx="51816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F8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中文与 </a:t>
            </a:r>
            <a:r>
              <a:rPr lang="en-US" alt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zh-CN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3048000"/>
            <a:ext cx="51054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zh-CN" altLang="en-US" sz="2400" dirty="0">
                <a:solidFill>
                  <a:srgbClr val="F8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一 / </a:t>
            </a:r>
            <a:r>
              <a:rPr lang="en-US" alt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</a:t>
            </a:r>
            <a:endParaRPr lang="zh-CN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3848100"/>
            <a:ext cx="51054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zh-CN" altLang="en-US" sz="2400" dirty="0">
                <a:solidFill>
                  <a:srgbClr val="F8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二 / </a:t>
            </a:r>
            <a:r>
              <a:rPr lang="en-US" alt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</a:t>
            </a:r>
            <a:endParaRPr lang="zh-CN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4648200"/>
            <a:ext cx="51054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zh-CN" altLang="en-US" sz="2400" dirty="0">
                <a:solidFill>
                  <a:srgbClr val="F8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三 / </a:t>
            </a:r>
            <a:r>
              <a:rPr lang="en-US" alt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</a:t>
            </a:r>
            <a:endParaRPr lang="zh-CN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5448300"/>
            <a:ext cx="51054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zh-CN" altLang="en-US" sz="2400" dirty="0">
                <a:solidFill>
                  <a:srgbClr val="F8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四 / </a:t>
            </a:r>
            <a:r>
              <a:rPr lang="en-US" alt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</a:t>
            </a:r>
            <a:endParaRPr lang="zh-CN" sz="2400" dirty="0"/>
          </a:p>
        </p:txBody>
      </p:sp>
      <p:sp>
        <p:nvSpPr>
          <p:cNvPr id="10" name="Text 8"/>
          <p:cNvSpPr/>
          <p:nvPr/>
        </p:nvSpPr>
        <p:spPr>
          <a:xfrm>
            <a:off x="6400800" y="2057400"/>
            <a:ext cx="51816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F8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四项 / </a:t>
            </a:r>
            <a:r>
              <a:rPr lang="en-US" alt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items</a:t>
            </a:r>
            <a:endParaRPr lang="zh-CN" sz="2400" dirty="0"/>
          </a:p>
        </p:txBody>
      </p:sp>
      <p:sp>
        <p:nvSpPr>
          <p:cNvPr id="11" name="Text 9"/>
          <p:cNvSpPr/>
          <p:nvPr/>
        </p:nvSpPr>
        <p:spPr>
          <a:xfrm>
            <a:off x="6477000" y="3048000"/>
            <a:ext cx="51054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zh-CN" altLang="en-US" sz="2400" dirty="0">
                <a:solidFill>
                  <a:srgbClr val="F8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原生文字</a:t>
            </a:r>
            <a:endParaRPr lang="zh-CN" sz="2400" dirty="0"/>
          </a:p>
        </p:txBody>
      </p:sp>
      <p:sp>
        <p:nvSpPr>
          <p:cNvPr id="12" name="Text 10"/>
          <p:cNvSpPr/>
          <p:nvPr/>
        </p:nvSpPr>
        <p:spPr>
          <a:xfrm>
            <a:off x="6477000" y="3848100"/>
            <a:ext cx="51054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zh-CN" altLang="en-US" sz="2400" dirty="0">
                <a:solidFill>
                  <a:srgbClr val="F8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明确字体</a:t>
            </a:r>
            <a:endParaRPr lang="zh-CN" sz="2400" dirty="0"/>
          </a:p>
        </p:txBody>
      </p:sp>
      <p:sp>
        <p:nvSpPr>
          <p:cNvPr id="13" name="Text 11"/>
          <p:cNvSpPr/>
          <p:nvPr/>
        </p:nvSpPr>
        <p:spPr>
          <a:xfrm>
            <a:off x="6477000" y="4648200"/>
            <a:ext cx="51054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zh-CN" altLang="en-US" sz="2400" dirty="0">
                <a:solidFill>
                  <a:srgbClr val="F8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固定行高</a:t>
            </a:r>
            <a:endParaRPr lang="zh-CN" sz="2400" dirty="0"/>
          </a:p>
        </p:txBody>
      </p:sp>
      <p:sp>
        <p:nvSpPr>
          <p:cNvPr id="14" name="Text 12"/>
          <p:cNvSpPr/>
          <p:nvPr/>
        </p:nvSpPr>
        <p:spPr>
          <a:xfrm>
            <a:off x="6477000" y="5448300"/>
            <a:ext cx="51054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zh-CN" altLang="en-US" sz="2400" dirty="0">
                <a:solidFill>
                  <a:srgbClr val="F8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末项 / </a:t>
            </a:r>
            <a:r>
              <a:rPr lang="en-US" alt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item</a:t>
            </a:r>
            <a:endParaRPr lang="zh-C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04800"/>
            <a:ext cx="609600" cy="38100"/>
          </a:xfrm>
          <a:prstGeom prst="rect">
            <a:avLst/>
          </a:prstGeom>
          <a:solidFill>
            <a:srgbClr val="78BE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F8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六项指标 / </a:t>
            </a:r>
            <a:r>
              <a:rPr lang="en-US" alt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metrics</a:t>
            </a:r>
            <a:endParaRPr lang="zh-CN" sz="3600" dirty="0"/>
          </a:p>
        </p:txBody>
      </p:sp>
      <p:sp>
        <p:nvSpPr>
          <p:cNvPr id="4" name="Shape 2"/>
          <p:cNvSpPr/>
          <p:nvPr/>
        </p:nvSpPr>
        <p:spPr>
          <a:xfrm>
            <a:off x="609600" y="2057400"/>
            <a:ext cx="3454400" cy="25400"/>
          </a:xfrm>
          <a:prstGeom prst="rect">
            <a:avLst/>
          </a:prstGeom>
          <a:solidFill>
            <a:srgbClr val="78BE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2184400"/>
            <a:ext cx="34544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alt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zh-CN" sz="3600" dirty="0"/>
          </a:p>
        </p:txBody>
      </p:sp>
      <p:sp>
        <p:nvSpPr>
          <p:cNvPr id="6" name="Text 4"/>
          <p:cNvSpPr/>
          <p:nvPr/>
        </p:nvSpPr>
        <p:spPr>
          <a:xfrm>
            <a:off x="609600" y="2882900"/>
            <a:ext cx="34544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F8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项目 / </a:t>
            </a:r>
            <a:r>
              <a:rPr lang="en-US" alt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</a:t>
            </a:r>
            <a:endParaRPr lang="zh-CN" sz="2400" dirty="0"/>
          </a:p>
        </p:txBody>
      </p:sp>
      <p:sp>
        <p:nvSpPr>
          <p:cNvPr id="7" name="Text 5"/>
          <p:cNvSpPr/>
          <p:nvPr/>
        </p:nvSpPr>
        <p:spPr>
          <a:xfrm>
            <a:off x="609600" y="3390900"/>
            <a:ext cx="34544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F8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说明 / </a:t>
            </a:r>
            <a:r>
              <a:rPr lang="en-US" alt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</a:t>
            </a:r>
            <a:endParaRPr lang="zh-CN" sz="1800" dirty="0"/>
          </a:p>
        </p:txBody>
      </p:sp>
      <p:sp>
        <p:nvSpPr>
          <p:cNvPr id="8" name="Shape 6"/>
          <p:cNvSpPr/>
          <p:nvPr/>
        </p:nvSpPr>
        <p:spPr>
          <a:xfrm>
            <a:off x="4368800" y="2057400"/>
            <a:ext cx="3454400" cy="25400"/>
          </a:xfrm>
          <a:prstGeom prst="rect">
            <a:avLst/>
          </a:prstGeom>
          <a:solidFill>
            <a:srgbClr val="78BE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68800" y="2184400"/>
            <a:ext cx="34544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alt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zh-CN" sz="3600" dirty="0"/>
          </a:p>
        </p:txBody>
      </p:sp>
      <p:sp>
        <p:nvSpPr>
          <p:cNvPr id="10" name="Text 8"/>
          <p:cNvSpPr/>
          <p:nvPr/>
        </p:nvSpPr>
        <p:spPr>
          <a:xfrm>
            <a:off x="4368800" y="2882900"/>
            <a:ext cx="34544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F8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项目 / </a:t>
            </a:r>
            <a:r>
              <a:rPr lang="en-US" alt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</a:t>
            </a:r>
            <a:endParaRPr lang="zh-CN" sz="2400" dirty="0"/>
          </a:p>
        </p:txBody>
      </p:sp>
      <p:sp>
        <p:nvSpPr>
          <p:cNvPr id="11" name="Text 9"/>
          <p:cNvSpPr/>
          <p:nvPr/>
        </p:nvSpPr>
        <p:spPr>
          <a:xfrm>
            <a:off x="4368800" y="3390900"/>
            <a:ext cx="34544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F8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说明 / </a:t>
            </a:r>
            <a:r>
              <a:rPr lang="en-US" alt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</a:t>
            </a:r>
            <a:endParaRPr lang="zh-CN" sz="1800" dirty="0"/>
          </a:p>
        </p:txBody>
      </p:sp>
      <p:sp>
        <p:nvSpPr>
          <p:cNvPr id="12" name="Shape 10"/>
          <p:cNvSpPr/>
          <p:nvPr/>
        </p:nvSpPr>
        <p:spPr>
          <a:xfrm>
            <a:off x="8128000" y="2057400"/>
            <a:ext cx="3454400" cy="25400"/>
          </a:xfrm>
          <a:prstGeom prst="rect">
            <a:avLst/>
          </a:prstGeom>
          <a:solidFill>
            <a:srgbClr val="78BE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8000" y="2184400"/>
            <a:ext cx="34544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alt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zh-CN" sz="3600" dirty="0"/>
          </a:p>
        </p:txBody>
      </p:sp>
      <p:sp>
        <p:nvSpPr>
          <p:cNvPr id="14" name="Text 12"/>
          <p:cNvSpPr/>
          <p:nvPr/>
        </p:nvSpPr>
        <p:spPr>
          <a:xfrm>
            <a:off x="8128000" y="2882900"/>
            <a:ext cx="34544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F8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项目 / </a:t>
            </a:r>
            <a:r>
              <a:rPr lang="en-US" alt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</a:t>
            </a:r>
            <a:endParaRPr lang="zh-CN" sz="2400" dirty="0"/>
          </a:p>
        </p:txBody>
      </p:sp>
      <p:sp>
        <p:nvSpPr>
          <p:cNvPr id="15" name="Text 13"/>
          <p:cNvSpPr/>
          <p:nvPr/>
        </p:nvSpPr>
        <p:spPr>
          <a:xfrm>
            <a:off x="8128000" y="3390900"/>
            <a:ext cx="34544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F8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说明 / </a:t>
            </a:r>
            <a:r>
              <a:rPr lang="en-US" alt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</a:t>
            </a:r>
            <a:endParaRPr lang="zh-CN" sz="1800" dirty="0"/>
          </a:p>
        </p:txBody>
      </p:sp>
      <p:sp>
        <p:nvSpPr>
          <p:cNvPr id="16" name="Shape 14"/>
          <p:cNvSpPr/>
          <p:nvPr/>
        </p:nvSpPr>
        <p:spPr>
          <a:xfrm>
            <a:off x="609600" y="4305300"/>
            <a:ext cx="3454400" cy="25400"/>
          </a:xfrm>
          <a:prstGeom prst="rect">
            <a:avLst/>
          </a:prstGeom>
          <a:solidFill>
            <a:srgbClr val="78BE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9600" y="4432300"/>
            <a:ext cx="34544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alt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zh-CN" sz="3600" dirty="0"/>
          </a:p>
        </p:txBody>
      </p:sp>
      <p:sp>
        <p:nvSpPr>
          <p:cNvPr id="18" name="Text 16"/>
          <p:cNvSpPr/>
          <p:nvPr/>
        </p:nvSpPr>
        <p:spPr>
          <a:xfrm>
            <a:off x="609600" y="5130800"/>
            <a:ext cx="34544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F8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项目 / </a:t>
            </a:r>
            <a:r>
              <a:rPr lang="en-US" alt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</a:t>
            </a:r>
            <a:endParaRPr lang="zh-CN" sz="2400" dirty="0"/>
          </a:p>
        </p:txBody>
      </p:sp>
      <p:sp>
        <p:nvSpPr>
          <p:cNvPr id="19" name="Text 17"/>
          <p:cNvSpPr/>
          <p:nvPr/>
        </p:nvSpPr>
        <p:spPr>
          <a:xfrm>
            <a:off x="609600" y="5638800"/>
            <a:ext cx="34544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F8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说明 / </a:t>
            </a:r>
            <a:r>
              <a:rPr lang="en-US" alt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</a:t>
            </a:r>
            <a:endParaRPr lang="zh-CN" sz="1800" dirty="0"/>
          </a:p>
        </p:txBody>
      </p:sp>
      <p:sp>
        <p:nvSpPr>
          <p:cNvPr id="20" name="Shape 18"/>
          <p:cNvSpPr/>
          <p:nvPr/>
        </p:nvSpPr>
        <p:spPr>
          <a:xfrm>
            <a:off x="4368800" y="4305300"/>
            <a:ext cx="3454400" cy="25400"/>
          </a:xfrm>
          <a:prstGeom prst="rect">
            <a:avLst/>
          </a:prstGeom>
          <a:solidFill>
            <a:srgbClr val="78BE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68800" y="4432300"/>
            <a:ext cx="34544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alt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zh-CN" sz="3600" dirty="0"/>
          </a:p>
        </p:txBody>
      </p:sp>
      <p:sp>
        <p:nvSpPr>
          <p:cNvPr id="22" name="Text 20"/>
          <p:cNvSpPr/>
          <p:nvPr/>
        </p:nvSpPr>
        <p:spPr>
          <a:xfrm>
            <a:off x="4368800" y="5130800"/>
            <a:ext cx="34544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F8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项目 / </a:t>
            </a:r>
            <a:r>
              <a:rPr lang="en-US" alt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</a:t>
            </a:r>
            <a:endParaRPr lang="zh-CN" sz="2400" dirty="0"/>
          </a:p>
        </p:txBody>
      </p:sp>
      <p:sp>
        <p:nvSpPr>
          <p:cNvPr id="23" name="Text 21"/>
          <p:cNvSpPr/>
          <p:nvPr/>
        </p:nvSpPr>
        <p:spPr>
          <a:xfrm>
            <a:off x="4368800" y="5638800"/>
            <a:ext cx="34544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F8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说明 / </a:t>
            </a:r>
            <a:r>
              <a:rPr lang="en-US" alt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</a:t>
            </a:r>
            <a:endParaRPr lang="zh-CN" sz="1800" dirty="0"/>
          </a:p>
        </p:txBody>
      </p:sp>
      <p:sp>
        <p:nvSpPr>
          <p:cNvPr id="24" name="Shape 22"/>
          <p:cNvSpPr/>
          <p:nvPr/>
        </p:nvSpPr>
        <p:spPr>
          <a:xfrm>
            <a:off x="8128000" y="4305300"/>
            <a:ext cx="3454400" cy="25400"/>
          </a:xfrm>
          <a:prstGeom prst="rect">
            <a:avLst/>
          </a:prstGeom>
          <a:solidFill>
            <a:srgbClr val="78BE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28000" y="4432300"/>
            <a:ext cx="34544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alt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zh-CN" sz="3600" dirty="0"/>
          </a:p>
        </p:txBody>
      </p:sp>
      <p:sp>
        <p:nvSpPr>
          <p:cNvPr id="26" name="Text 24"/>
          <p:cNvSpPr/>
          <p:nvPr/>
        </p:nvSpPr>
        <p:spPr>
          <a:xfrm>
            <a:off x="8128000" y="5130800"/>
            <a:ext cx="34544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F8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项目 / </a:t>
            </a:r>
            <a:r>
              <a:rPr lang="en-US" alt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</a:t>
            </a:r>
            <a:endParaRPr lang="zh-CN" sz="2400" dirty="0"/>
          </a:p>
        </p:txBody>
      </p:sp>
      <p:sp>
        <p:nvSpPr>
          <p:cNvPr id="27" name="Text 25"/>
          <p:cNvSpPr/>
          <p:nvPr/>
        </p:nvSpPr>
        <p:spPr>
          <a:xfrm>
            <a:off x="8128000" y="5638800"/>
            <a:ext cx="34544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F8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说明 / </a:t>
            </a:r>
            <a:r>
              <a:rPr lang="en-US" alt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</a:t>
            </a:r>
            <a:endParaRPr lang="zh-CN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04800"/>
            <a:ext cx="609600" cy="38100"/>
          </a:xfrm>
          <a:prstGeom prst="rect">
            <a:avLst/>
          </a:prstGeom>
          <a:solidFill>
            <a:srgbClr val="78BE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F8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表格容量 / </a:t>
            </a:r>
            <a:r>
              <a:rPr lang="en-US" alt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capacity</a:t>
            </a:r>
            <a:endParaRPr lang="zh-CN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2057400"/>
          <a:ext cx="10972800" cy="418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52324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142033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列 </a:t>
                      </a:r>
                      <a:r>
                        <a:rPr lang="en-US" altLang="en-US" sz="1800" b="1" dirty="0">
                          <a:solidFill>
                            <a:srgbClr val="14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B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142033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列 </a:t>
                      </a:r>
                      <a:r>
                        <a:rPr lang="en-US" altLang="en-US" sz="1800" b="1" dirty="0">
                          <a:solidFill>
                            <a:srgbClr val="14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B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142033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列 </a:t>
                      </a:r>
                      <a:r>
                        <a:rPr lang="en-US" altLang="en-US" sz="1800" b="1" dirty="0">
                          <a:solidFill>
                            <a:srgbClr val="14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B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142033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列 </a:t>
                      </a:r>
                      <a:r>
                        <a:rPr lang="en-US" altLang="en-US" sz="1800" b="1" dirty="0">
                          <a:solidFill>
                            <a:srgbClr val="14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B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142033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列 </a:t>
                      </a:r>
                      <a:r>
                        <a:rPr lang="en-US" altLang="en-US" sz="1800" b="1" dirty="0">
                          <a:solidFill>
                            <a:srgbClr val="14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B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142033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列 </a:t>
                      </a:r>
                      <a:r>
                        <a:rPr lang="en-US" altLang="en-US" sz="1800" b="1" dirty="0">
                          <a:solidFill>
                            <a:srgbClr val="14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BE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1-1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1-2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1-4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1-5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1-6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2-1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2-2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2-4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2-5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2-6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3-1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3-2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3-4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3-5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3-6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4-1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4-2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4-4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4-5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4-6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5-1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5-2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5-4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5-5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5-6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6-2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6-4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6-5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6-6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7-1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7-2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7-3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7-4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7-5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7-6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04800"/>
            <a:ext cx="609600" cy="38100"/>
          </a:xfrm>
          <a:prstGeom prst="rect">
            <a:avLst/>
          </a:prstGeom>
          <a:solidFill>
            <a:srgbClr val="78BE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F8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表格换行 / </a:t>
            </a:r>
            <a:r>
              <a:rPr lang="en-US" alt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paragraphs</a:t>
            </a:r>
            <a:endParaRPr lang="zh-CN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2057400"/>
          <a:ext cx="10972800" cy="316992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52324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142033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中文 / </a:t>
                      </a:r>
                      <a:r>
                        <a:rPr lang="en-US" altLang="en-US" sz="1800" b="1" dirty="0">
                          <a:solidFill>
                            <a:srgbClr val="14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Chinese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B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b="1" dirty="0">
                          <a:solidFill>
                            <a:srgbClr val="142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English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BEFF"/>
                    </a:solidFill>
                  </a:tcPr>
                </a:tc>
              </a:tr>
              <a:tr h="180340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F8FAFC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中文 </a:t>
                      </a: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English </a:t>
                      </a:r>
                      <a:r>
                        <a:rPr lang="zh-CN" altLang="en-US" sz="1800" dirty="0">
                          <a:solidFill>
                            <a:srgbClr val="F8FAFC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中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F8FAFC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末行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</a:tr>
              <a:tr h="84328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007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line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F8FAFC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第二行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B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2026-10-01T10:00:56Z</dcterms:created>
  <dcterms:modified xsi:type="dcterms:W3CDTF">2026-10-01T10:00:56Z</dcterms:modified>
</cp:coreProperties>
</file>